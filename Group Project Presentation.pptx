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Handy Casual" panose="020B060402020202020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-5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88485" y="5404237"/>
            <a:ext cx="7143651" cy="1269660"/>
            <a:chOff x="0" y="0"/>
            <a:chExt cx="1431603" cy="254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1603" cy="254443"/>
            </a:xfrm>
            <a:custGeom>
              <a:avLst/>
              <a:gdLst/>
              <a:ahLst/>
              <a:cxnLst/>
              <a:rect l="l" t="t" r="r" b="b"/>
              <a:pathLst>
                <a:path w="1431603" h="254443">
                  <a:moveTo>
                    <a:pt x="55271" y="0"/>
                  </a:moveTo>
                  <a:lnTo>
                    <a:pt x="1376332" y="0"/>
                  </a:lnTo>
                  <a:cubicBezTo>
                    <a:pt x="1406857" y="0"/>
                    <a:pt x="1431603" y="24746"/>
                    <a:pt x="1431603" y="55271"/>
                  </a:cubicBezTo>
                  <a:lnTo>
                    <a:pt x="1431603" y="199171"/>
                  </a:lnTo>
                  <a:cubicBezTo>
                    <a:pt x="1431603" y="229697"/>
                    <a:pt x="1406857" y="254443"/>
                    <a:pt x="1376332" y="254443"/>
                  </a:cubicBezTo>
                  <a:lnTo>
                    <a:pt x="55271" y="254443"/>
                  </a:lnTo>
                  <a:cubicBezTo>
                    <a:pt x="24746" y="254443"/>
                    <a:pt x="0" y="229697"/>
                    <a:pt x="0" y="199171"/>
                  </a:cubicBezTo>
                  <a:lnTo>
                    <a:pt x="0" y="55271"/>
                  </a:lnTo>
                  <a:cubicBezTo>
                    <a:pt x="0" y="24746"/>
                    <a:pt x="24746" y="0"/>
                    <a:pt x="55271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1603" cy="292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523601" y="40870"/>
            <a:ext cx="2701492" cy="270149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25063" y="2457922"/>
            <a:ext cx="13470495" cy="42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84"/>
              </a:lnSpc>
            </a:pPr>
            <a:r>
              <a:rPr lang="en-US" sz="989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DevOps Automatisée</a:t>
            </a:r>
          </a:p>
          <a:p>
            <a:pPr algn="ctr">
              <a:lnSpc>
                <a:spcPts val="10884"/>
              </a:lnSpc>
            </a:pPr>
            <a:endParaRPr lang="en-US" sz="9895">
              <a:solidFill>
                <a:srgbClr val="C9686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295558" y="3017820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0" name="Group 10"/>
          <p:cNvGrpSpPr/>
          <p:nvPr/>
        </p:nvGrpSpPr>
        <p:grpSpPr>
          <a:xfrm>
            <a:off x="-1535876" y="7977637"/>
            <a:ext cx="3071751" cy="307175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29132" y="2179966"/>
            <a:ext cx="991861" cy="1124791"/>
          </a:xfrm>
          <a:custGeom>
            <a:avLst/>
            <a:gdLst/>
            <a:ahLst/>
            <a:cxnLst/>
            <a:rect l="l" t="t" r="r" b="b"/>
            <a:pathLst>
              <a:path w="991861" h="1124791">
                <a:moveTo>
                  <a:pt x="0" y="0"/>
                </a:moveTo>
                <a:lnTo>
                  <a:pt x="991861" y="0"/>
                </a:lnTo>
                <a:lnTo>
                  <a:pt x="991861" y="1124791"/>
                </a:lnTo>
                <a:lnTo>
                  <a:pt x="0" y="1124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/>
          <p:nvPr/>
        </p:nvSpPr>
        <p:spPr>
          <a:xfrm>
            <a:off x="15024844" y="4139045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1457913" y="6039067"/>
            <a:ext cx="1448083" cy="1008392"/>
          </a:xfrm>
          <a:custGeom>
            <a:avLst/>
            <a:gdLst/>
            <a:ahLst/>
            <a:cxnLst/>
            <a:rect l="l" t="t" r="r" b="b"/>
            <a:pathLst>
              <a:path w="1448083" h="1008392">
                <a:moveTo>
                  <a:pt x="0" y="0"/>
                </a:moveTo>
                <a:lnTo>
                  <a:pt x="1448083" y="0"/>
                </a:lnTo>
                <a:lnTo>
                  <a:pt x="1448083" y="1008393"/>
                </a:lnTo>
                <a:lnTo>
                  <a:pt x="0" y="10083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6" name="Group 16"/>
          <p:cNvGrpSpPr/>
          <p:nvPr/>
        </p:nvGrpSpPr>
        <p:grpSpPr>
          <a:xfrm>
            <a:off x="14335978" y="8599857"/>
            <a:ext cx="3374286" cy="337428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279458" y="8678072"/>
            <a:ext cx="835440" cy="83544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558898" y="40870"/>
            <a:ext cx="3729102" cy="2119700"/>
          </a:xfrm>
          <a:custGeom>
            <a:avLst/>
            <a:gdLst/>
            <a:ahLst/>
            <a:cxnLst/>
            <a:rect l="l" t="t" r="r" b="b"/>
            <a:pathLst>
              <a:path w="3729102" h="2119700">
                <a:moveTo>
                  <a:pt x="0" y="0"/>
                </a:moveTo>
                <a:lnTo>
                  <a:pt x="3729102" y="0"/>
                </a:lnTo>
                <a:lnTo>
                  <a:pt x="3729102" y="2119700"/>
                </a:lnTo>
                <a:lnTo>
                  <a:pt x="0" y="2119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0" y="33255"/>
            <a:ext cx="4363909" cy="1709696"/>
          </a:xfrm>
          <a:custGeom>
            <a:avLst/>
            <a:gdLst/>
            <a:ahLst/>
            <a:cxnLst/>
            <a:rect l="l" t="t" r="r" b="b"/>
            <a:pathLst>
              <a:path w="4363909" h="1709696">
                <a:moveTo>
                  <a:pt x="0" y="0"/>
                </a:moveTo>
                <a:lnTo>
                  <a:pt x="4363909" y="0"/>
                </a:lnTo>
                <a:lnTo>
                  <a:pt x="4363909" y="1709696"/>
                </a:lnTo>
                <a:lnTo>
                  <a:pt x="0" y="1709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TextBox 24"/>
          <p:cNvSpPr txBox="1"/>
          <p:nvPr/>
        </p:nvSpPr>
        <p:spPr>
          <a:xfrm>
            <a:off x="5347141" y="5461247"/>
            <a:ext cx="6527206" cy="1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2989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Déploiement Continu d'une Application Quiz Interactive</a:t>
            </a:r>
          </a:p>
          <a:p>
            <a:pPr algn="ctr">
              <a:lnSpc>
                <a:spcPts val="3205"/>
              </a:lnSpc>
            </a:pPr>
            <a:endParaRPr lang="en-US" sz="2989">
              <a:solidFill>
                <a:srgbClr val="FFFCEF"/>
              </a:solidFill>
              <a:latin typeface="Handy Casual"/>
              <a:ea typeface="Handy Casual"/>
              <a:cs typeface="Handy Casual"/>
              <a:sym typeface="Handy Casual"/>
            </a:endParaRPr>
          </a:p>
          <a:p>
            <a:pPr algn="ctr">
              <a:lnSpc>
                <a:spcPts val="3205"/>
              </a:lnSpc>
            </a:pPr>
            <a:endParaRPr lang="en-US" sz="2989">
              <a:solidFill>
                <a:srgbClr val="FFFCEF"/>
              </a:solidFill>
              <a:latin typeface="Handy Casual"/>
              <a:ea typeface="Handy Casual"/>
              <a:cs typeface="Handy Casual"/>
              <a:sym typeface="Handy Casu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825063" y="7242052"/>
            <a:ext cx="3891657" cy="228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PRÉSENTÉ PAR :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KHANSAA BALAKRAFAS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SALMA ZAMAKHCHARI 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CHAIMAA AFESS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LINA AKHOUZINE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29580" y="7453364"/>
            <a:ext cx="6951762" cy="493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78"/>
              </a:lnSpc>
              <a:spcBef>
                <a:spcPct val="0"/>
              </a:spcBef>
            </a:pPr>
            <a:r>
              <a:rPr lang="en-US" sz="2984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Encadré</a:t>
            </a:r>
            <a:r>
              <a:rPr lang="en-US" sz="298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par : Prof. Ben Abou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68088" y="8130037"/>
            <a:ext cx="6951762" cy="45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DSBD &amp; IA — FSBM, Université Hassan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62988" y="-780468"/>
            <a:ext cx="5470639" cy="547063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7194" y="9864502"/>
            <a:ext cx="844997" cy="8449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793809" y="-1707155"/>
            <a:ext cx="3414309" cy="341430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7944" y="3945224"/>
            <a:ext cx="3120212" cy="797950"/>
            <a:chOff x="0" y="0"/>
            <a:chExt cx="821784" cy="2101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37944" y="5276574"/>
            <a:ext cx="3120212" cy="797950"/>
            <a:chOff x="0" y="0"/>
            <a:chExt cx="821784" cy="2101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7944" y="6607924"/>
            <a:ext cx="3120212" cy="797950"/>
            <a:chOff x="0" y="0"/>
            <a:chExt cx="821784" cy="2101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7944" y="7938097"/>
            <a:ext cx="3120212" cy="797950"/>
            <a:chOff x="0" y="0"/>
            <a:chExt cx="821784" cy="2101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20500" y="712662"/>
            <a:ext cx="12942488" cy="202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9"/>
              </a:lnSpc>
            </a:pPr>
            <a:r>
              <a:rPr lang="en-US" sz="7090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LA PRÉSENTATION</a:t>
            </a:r>
          </a:p>
          <a:p>
            <a:pPr algn="ctr">
              <a:lnSpc>
                <a:spcPts val="7799"/>
              </a:lnSpc>
            </a:pPr>
            <a:endParaRPr lang="en-US" sz="7090">
              <a:solidFill>
                <a:srgbClr val="C9686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748963" y="2271705"/>
            <a:ext cx="11518213" cy="658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 et Objectifs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Architecture du Projet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Application et Conteneurisation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Infrastructure as Code (Terraform &amp; Ansible)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Orchestration Kubernetes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Pipeline CI/CD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Démonstration</a:t>
            </a:r>
          </a:p>
          <a:p>
            <a:pPr algn="l">
              <a:lnSpc>
                <a:spcPts val="6623"/>
              </a:lnSpc>
              <a:spcBef>
                <a:spcPct val="0"/>
              </a:spcBef>
            </a:pPr>
            <a:r>
              <a:rPr lang="en-US" sz="47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Conclusion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337944" y="2613874"/>
            <a:ext cx="3120212" cy="797950"/>
            <a:chOff x="0" y="0"/>
            <a:chExt cx="821784" cy="2101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10992" y="8426925"/>
            <a:ext cx="1296617" cy="12966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69890" y="8049844"/>
            <a:ext cx="3961920" cy="396192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947627" y="-1081645"/>
            <a:ext cx="2547065" cy="25470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41796" y="733424"/>
            <a:ext cx="14672902" cy="137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30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DU PROJET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1796" y="2251779"/>
            <a:ext cx="14102465" cy="5536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8"/>
              </a:lnSpc>
            </a:pPr>
            <a:endParaRPr/>
          </a:p>
          <a:p>
            <a:pPr marL="961992" lvl="1" indent="-480996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Mettre en place une infrastructure DevOps complète</a:t>
            </a:r>
          </a:p>
          <a:p>
            <a:pPr marL="961992" lvl="1" indent="-480996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Automatiser le déploiement avec CI/CD</a:t>
            </a:r>
          </a:p>
          <a:p>
            <a:pPr marL="961992" lvl="1" indent="-480996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Conteneuriser une application avec Docker</a:t>
            </a:r>
          </a:p>
          <a:p>
            <a:pPr marL="961992" lvl="1" indent="-480996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Orchestrer avec Kubernetes</a:t>
            </a:r>
          </a:p>
          <a:p>
            <a:pPr marL="961992" lvl="1" indent="-480996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Utiliser Terraform et Ansible pour l'Infrastructure as Code</a:t>
            </a:r>
          </a:p>
          <a:p>
            <a:pPr marL="961992" lvl="1" indent="-480996" algn="l">
              <a:lnSpc>
                <a:spcPts val="6238"/>
              </a:lnSpc>
              <a:buFont typeface="Arial"/>
              <a:buChar char="•"/>
            </a:pPr>
            <a:r>
              <a:rPr lang="en-US" sz="4455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Déployer sur le cloud 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70927" y="8439997"/>
            <a:ext cx="4141854" cy="414185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-1181628"/>
            <a:ext cx="2363256" cy="23632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63007" y="9458870"/>
            <a:ext cx="576737" cy="57673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477523" y="8914489"/>
            <a:ext cx="1970968" cy="1372511"/>
          </a:xfrm>
          <a:custGeom>
            <a:avLst/>
            <a:gdLst/>
            <a:ahLst/>
            <a:cxnLst/>
            <a:rect l="l" t="t" r="r" b="b"/>
            <a:pathLst>
              <a:path w="1970968" h="1372511">
                <a:moveTo>
                  <a:pt x="0" y="0"/>
                </a:moveTo>
                <a:lnTo>
                  <a:pt x="1970968" y="0"/>
                </a:lnTo>
                <a:lnTo>
                  <a:pt x="1970968" y="1372511"/>
                </a:lnTo>
                <a:lnTo>
                  <a:pt x="0" y="1372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9144000" y="1760062"/>
            <a:ext cx="9001985" cy="5997572"/>
          </a:xfrm>
          <a:custGeom>
            <a:avLst/>
            <a:gdLst/>
            <a:ahLst/>
            <a:cxnLst/>
            <a:rect l="l" t="t" r="r" b="b"/>
            <a:pathLst>
              <a:path w="9001985" h="5997572">
                <a:moveTo>
                  <a:pt x="0" y="0"/>
                </a:moveTo>
                <a:lnTo>
                  <a:pt x="9001985" y="0"/>
                </a:lnTo>
                <a:lnTo>
                  <a:pt x="9001985" y="5997573"/>
                </a:lnTo>
                <a:lnTo>
                  <a:pt x="0" y="5997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16047" y="238219"/>
            <a:ext cx="9927139" cy="267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0"/>
              </a:lnSpc>
            </a:pPr>
            <a:r>
              <a:rPr lang="en-US" sz="9300">
                <a:solidFill>
                  <a:srgbClr val="7EAC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</a:p>
          <a:p>
            <a:pPr algn="l">
              <a:lnSpc>
                <a:spcPts val="10230"/>
              </a:lnSpc>
            </a:pPr>
            <a:endParaRPr lang="en-US" sz="9300">
              <a:solidFill>
                <a:srgbClr val="7EAC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00309" y="1428826"/>
            <a:ext cx="9329309" cy="803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 LOCAL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Terraform : création des serveurs AWS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Ansible : configuration des serveurs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kubectl : gestion du cluster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CI/CD (GITHUB ACTIONS)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Build de l'image Docker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Push vers Docker Hub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Déploiement sur Kubernetes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AWS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Master Node (t3.small) : contrôle du cluster K3s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Worker Node (t3.micro) : exécute l'application</a:t>
            </a:r>
          </a:p>
          <a:p>
            <a:pPr algn="l">
              <a:lnSpc>
                <a:spcPts val="4960"/>
              </a:lnSpc>
              <a:spcBef>
                <a:spcPct val="0"/>
              </a:spcBef>
            </a:pPr>
            <a:r>
              <a:rPr lang="en-US" sz="354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Application accessible sur le port 30001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37254" y="-1672792"/>
            <a:ext cx="2701492" cy="270149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2795" y="38100"/>
            <a:ext cx="10659597" cy="1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7"/>
              </a:lnSpc>
            </a:pPr>
            <a:r>
              <a:rPr lang="en-US" sz="9498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10482620" y="289654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4" y="0"/>
                </a:lnTo>
                <a:lnTo>
                  <a:pt x="1398604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-1535876" y="-1627151"/>
            <a:ext cx="3071751" cy="307175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259300" y="9162209"/>
            <a:ext cx="991861" cy="1124791"/>
          </a:xfrm>
          <a:custGeom>
            <a:avLst/>
            <a:gdLst/>
            <a:ahLst/>
            <a:cxnLst/>
            <a:rect l="l" t="t" r="r" b="b"/>
            <a:pathLst>
              <a:path w="991861" h="1124791">
                <a:moveTo>
                  <a:pt x="0" y="0"/>
                </a:moveTo>
                <a:lnTo>
                  <a:pt x="991861" y="0"/>
                </a:lnTo>
                <a:lnTo>
                  <a:pt x="991861" y="1124791"/>
                </a:lnTo>
                <a:lnTo>
                  <a:pt x="0" y="1124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6559998" y="692707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4" y="0"/>
                </a:lnTo>
                <a:lnTo>
                  <a:pt x="1398604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9144000" y="8754104"/>
            <a:ext cx="1448083" cy="1008392"/>
          </a:xfrm>
          <a:custGeom>
            <a:avLst/>
            <a:gdLst/>
            <a:ahLst/>
            <a:cxnLst/>
            <a:rect l="l" t="t" r="r" b="b"/>
            <a:pathLst>
              <a:path w="1448083" h="1008392">
                <a:moveTo>
                  <a:pt x="0" y="0"/>
                </a:moveTo>
                <a:lnTo>
                  <a:pt x="1448083" y="0"/>
                </a:lnTo>
                <a:lnTo>
                  <a:pt x="1448083" y="1008392"/>
                </a:lnTo>
                <a:lnTo>
                  <a:pt x="0" y="1008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6514209" y="2802213"/>
            <a:ext cx="11241021" cy="5627707"/>
          </a:xfrm>
          <a:custGeom>
            <a:avLst/>
            <a:gdLst/>
            <a:ahLst/>
            <a:cxnLst/>
            <a:rect l="l" t="t" r="r" b="b"/>
            <a:pathLst>
              <a:path w="11241021" h="5627707">
                <a:moveTo>
                  <a:pt x="0" y="0"/>
                </a:moveTo>
                <a:lnTo>
                  <a:pt x="11241022" y="0"/>
                </a:lnTo>
                <a:lnTo>
                  <a:pt x="11241022" y="5627708"/>
                </a:lnTo>
                <a:lnTo>
                  <a:pt x="0" y="5627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228754" y="2726013"/>
            <a:ext cx="6053840" cy="681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2"/>
              </a:lnSpc>
              <a:spcBef>
                <a:spcPct val="0"/>
              </a:spcBef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: QUIZ INTERACTIF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: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Python / Flask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HTML / CSS / JavaScript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Fonctionnalités :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3 catégories : Python, Docker, Kubernetes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Questions et réponses dynamiques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Interface simple et responsive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Fichiers :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app.py : logique backend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templates/ : interface utilisateur</a:t>
            </a:r>
          </a:p>
          <a:p>
            <a:pPr algn="l">
              <a:lnSpc>
                <a:spcPts val="4132"/>
              </a:lnSpc>
            </a:pPr>
            <a:r>
              <a:rPr lang="en-US" sz="29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requirements.txt : dépendances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62224" y="8487331"/>
            <a:ext cx="2389302" cy="23893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72805" y="-401775"/>
            <a:ext cx="1756230" cy="175623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72805" y="9337864"/>
            <a:ext cx="1050917" cy="10509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07038" y="162803"/>
            <a:ext cx="6273925" cy="267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30"/>
              </a:lnSpc>
            </a:pPr>
            <a:r>
              <a:rPr lang="en-US" sz="9300">
                <a:solidFill>
                  <a:srgbClr val="7EAC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</a:p>
          <a:p>
            <a:pPr algn="ctr">
              <a:lnSpc>
                <a:spcPts val="10230"/>
              </a:lnSpc>
            </a:pPr>
            <a:endParaRPr lang="en-US" sz="9300">
              <a:solidFill>
                <a:srgbClr val="7EAC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826932" y="3132434"/>
            <a:ext cx="274168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Process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19383" y="3132434"/>
            <a:ext cx="274168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Process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19383" y="6591888"/>
            <a:ext cx="274168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Process 4</a:t>
            </a:r>
          </a:p>
        </p:txBody>
      </p:sp>
      <p:sp>
        <p:nvSpPr>
          <p:cNvPr id="15" name="Freeform 15"/>
          <p:cNvSpPr/>
          <p:nvPr/>
        </p:nvSpPr>
        <p:spPr>
          <a:xfrm>
            <a:off x="6887537" y="2833613"/>
            <a:ext cx="10940662" cy="5319897"/>
          </a:xfrm>
          <a:custGeom>
            <a:avLst/>
            <a:gdLst/>
            <a:ahLst/>
            <a:cxnLst/>
            <a:rect l="l" t="t" r="r" b="b"/>
            <a:pathLst>
              <a:path w="10940662" h="5319897">
                <a:moveTo>
                  <a:pt x="0" y="0"/>
                </a:moveTo>
                <a:lnTo>
                  <a:pt x="10940662" y="0"/>
                </a:lnTo>
                <a:lnTo>
                  <a:pt x="10940662" y="5319897"/>
                </a:lnTo>
                <a:lnTo>
                  <a:pt x="0" y="5319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252654" y="2314682"/>
            <a:ext cx="6634883" cy="7023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sz="362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CONTENEURISATION AVEC DOCKER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L'application est emballée dans un conteneur Docker avec :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Image de base : Python 3.9-slim (légère)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Installation des dépendances Flask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Exposition du port 5000</a:t>
            </a:r>
          </a:p>
          <a:p>
            <a:pPr algn="l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Image stockée sur Docker Hub : quiz-app:latest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576740" y="476340"/>
            <a:ext cx="1970968" cy="1372511"/>
          </a:xfrm>
          <a:custGeom>
            <a:avLst/>
            <a:gdLst/>
            <a:ahLst/>
            <a:cxnLst/>
            <a:rect l="l" t="t" r="r" b="b"/>
            <a:pathLst>
              <a:path w="1970968" h="1372511">
                <a:moveTo>
                  <a:pt x="0" y="0"/>
                </a:moveTo>
                <a:lnTo>
                  <a:pt x="1970968" y="0"/>
                </a:lnTo>
                <a:lnTo>
                  <a:pt x="1970968" y="1372511"/>
                </a:lnTo>
                <a:lnTo>
                  <a:pt x="0" y="1372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42812" y="-616488"/>
            <a:ext cx="1645188" cy="164518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065554" y="9221446"/>
            <a:ext cx="2131108" cy="21311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76539" y="1717622"/>
            <a:ext cx="9188867" cy="5157252"/>
          </a:xfrm>
          <a:custGeom>
            <a:avLst/>
            <a:gdLst/>
            <a:ahLst/>
            <a:cxnLst/>
            <a:rect l="l" t="t" r="r" b="b"/>
            <a:pathLst>
              <a:path w="9188867" h="5157252">
                <a:moveTo>
                  <a:pt x="0" y="0"/>
                </a:moveTo>
                <a:lnTo>
                  <a:pt x="9188867" y="0"/>
                </a:lnTo>
                <a:lnTo>
                  <a:pt x="9188867" y="5157252"/>
                </a:lnTo>
                <a:lnTo>
                  <a:pt x="0" y="515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2974910" y="6479993"/>
            <a:ext cx="9331632" cy="3569349"/>
          </a:xfrm>
          <a:custGeom>
            <a:avLst/>
            <a:gdLst/>
            <a:ahLst/>
            <a:cxnLst/>
            <a:rect l="l" t="t" r="r" b="b"/>
            <a:pathLst>
              <a:path w="9331632" h="3569349">
                <a:moveTo>
                  <a:pt x="0" y="0"/>
                </a:moveTo>
                <a:lnTo>
                  <a:pt x="9331633" y="0"/>
                </a:lnTo>
                <a:lnTo>
                  <a:pt x="9331633" y="3569349"/>
                </a:lnTo>
                <a:lnTo>
                  <a:pt x="0" y="3569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2974910" y="342212"/>
            <a:ext cx="8798632" cy="137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230"/>
              </a:lnSpc>
            </a:pPr>
            <a:r>
              <a:rPr lang="en-US" sz="9300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TERRAFORM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36410" y="4198890"/>
            <a:ext cx="274168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Series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36410" y="7172524"/>
            <a:ext cx="274168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Series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2202" y="2184345"/>
            <a:ext cx="7884336" cy="502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PROVISIONNEMENT AWS AVEC TERRAFORM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Terraform crée automatiquement :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 instances EC2 (Master + Worker)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Security Group (pare-feu)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Clé SSH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Ports ouverts :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- 22 : SSH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- 6443 : API Kubernetes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- 30001 : Application</a:t>
            </a:r>
          </a:p>
          <a:p>
            <a:pPr algn="l">
              <a:lnSpc>
                <a:spcPts val="3674"/>
              </a:lnSpc>
              <a:spcBef>
                <a:spcPct val="0"/>
              </a:spcBef>
            </a:pPr>
            <a:endParaRPr lang="en-US" sz="262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674"/>
              </a:lnSpc>
              <a:spcBef>
                <a:spcPct val="0"/>
              </a:spcBef>
            </a:pPr>
            <a:endParaRPr lang="en-US" sz="262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6642812" y="8515666"/>
            <a:ext cx="2131108" cy="213110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0996" y="-242598"/>
            <a:ext cx="1454194" cy="145419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803767" y="-864125"/>
            <a:ext cx="2505242" cy="250524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383942">
            <a:off x="16503242" y="294901"/>
            <a:ext cx="1495507" cy="1435687"/>
          </a:xfrm>
          <a:custGeom>
            <a:avLst/>
            <a:gdLst/>
            <a:ahLst/>
            <a:cxnLst/>
            <a:rect l="l" t="t" r="r" b="b"/>
            <a:pathLst>
              <a:path w="1495507" h="1435687">
                <a:moveTo>
                  <a:pt x="0" y="0"/>
                </a:moveTo>
                <a:lnTo>
                  <a:pt x="1495508" y="0"/>
                </a:lnTo>
                <a:lnTo>
                  <a:pt x="1495508" y="1435688"/>
                </a:lnTo>
                <a:lnTo>
                  <a:pt x="0" y="1435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3638614" y="9395934"/>
            <a:ext cx="3090939" cy="522650"/>
          </a:xfrm>
          <a:custGeom>
            <a:avLst/>
            <a:gdLst/>
            <a:ahLst/>
            <a:cxnLst/>
            <a:rect l="l" t="t" r="r" b="b"/>
            <a:pathLst>
              <a:path w="3090939" h="522650">
                <a:moveTo>
                  <a:pt x="0" y="0"/>
                </a:moveTo>
                <a:lnTo>
                  <a:pt x="3090939" y="0"/>
                </a:lnTo>
                <a:lnTo>
                  <a:pt x="3090939" y="522650"/>
                </a:lnTo>
                <a:lnTo>
                  <a:pt x="0" y="52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0" name="Group 10"/>
          <p:cNvGrpSpPr/>
          <p:nvPr/>
        </p:nvGrpSpPr>
        <p:grpSpPr>
          <a:xfrm>
            <a:off x="2014828" y="-313451"/>
            <a:ext cx="3120212" cy="797950"/>
            <a:chOff x="0" y="0"/>
            <a:chExt cx="821784" cy="210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145084" y="1809455"/>
            <a:ext cx="3120212" cy="797950"/>
            <a:chOff x="0" y="0"/>
            <a:chExt cx="821784" cy="2101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788198" y="9258284"/>
            <a:ext cx="3120212" cy="797950"/>
            <a:chOff x="0" y="0"/>
            <a:chExt cx="821784" cy="2101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1784" cy="210160"/>
            </a:xfrm>
            <a:custGeom>
              <a:avLst/>
              <a:gdLst/>
              <a:ahLst/>
              <a:cxnLst/>
              <a:rect l="l" t="t" r="r" b="b"/>
              <a:pathLst>
                <a:path w="821784" h="210160">
                  <a:moveTo>
                    <a:pt x="105080" y="0"/>
                  </a:moveTo>
                  <a:lnTo>
                    <a:pt x="716704" y="0"/>
                  </a:lnTo>
                  <a:cubicBezTo>
                    <a:pt x="774738" y="0"/>
                    <a:pt x="821784" y="47046"/>
                    <a:pt x="821784" y="105080"/>
                  </a:cubicBezTo>
                  <a:lnTo>
                    <a:pt x="821784" y="105080"/>
                  </a:lnTo>
                  <a:cubicBezTo>
                    <a:pt x="821784" y="163114"/>
                    <a:pt x="774738" y="210160"/>
                    <a:pt x="716704" y="210160"/>
                  </a:cubicBezTo>
                  <a:lnTo>
                    <a:pt x="105080" y="210160"/>
                  </a:lnTo>
                  <a:cubicBezTo>
                    <a:pt x="47046" y="210160"/>
                    <a:pt x="0" y="163114"/>
                    <a:pt x="0" y="105080"/>
                  </a:cubicBezTo>
                  <a:lnTo>
                    <a:pt x="0" y="105080"/>
                  </a:lnTo>
                  <a:cubicBezTo>
                    <a:pt x="0" y="47046"/>
                    <a:pt x="47046" y="0"/>
                    <a:pt x="10508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21784" cy="248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631597" y="3255771"/>
            <a:ext cx="11301259" cy="1469164"/>
          </a:xfrm>
          <a:custGeom>
            <a:avLst/>
            <a:gdLst/>
            <a:ahLst/>
            <a:cxnLst/>
            <a:rect l="l" t="t" r="r" b="b"/>
            <a:pathLst>
              <a:path w="11301259" h="1469164">
                <a:moveTo>
                  <a:pt x="0" y="0"/>
                </a:moveTo>
                <a:lnTo>
                  <a:pt x="11301259" y="0"/>
                </a:lnTo>
                <a:lnTo>
                  <a:pt x="11301259" y="1469164"/>
                </a:lnTo>
                <a:lnTo>
                  <a:pt x="0" y="14691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Freeform 20"/>
          <p:cNvSpPr/>
          <p:nvPr/>
        </p:nvSpPr>
        <p:spPr>
          <a:xfrm>
            <a:off x="6631597" y="5791200"/>
            <a:ext cx="11301259" cy="1469164"/>
          </a:xfrm>
          <a:custGeom>
            <a:avLst/>
            <a:gdLst/>
            <a:ahLst/>
            <a:cxnLst/>
            <a:rect l="l" t="t" r="r" b="b"/>
            <a:pathLst>
              <a:path w="11301259" h="1469164">
                <a:moveTo>
                  <a:pt x="0" y="0"/>
                </a:moveTo>
                <a:lnTo>
                  <a:pt x="11301259" y="0"/>
                </a:lnTo>
                <a:lnTo>
                  <a:pt x="11301259" y="1469164"/>
                </a:lnTo>
                <a:lnTo>
                  <a:pt x="0" y="14691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3574934" y="324761"/>
            <a:ext cx="9666338" cy="267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30"/>
              </a:lnSpc>
            </a:pPr>
            <a:r>
              <a:rPr lang="en-US" sz="9300">
                <a:solidFill>
                  <a:srgbClr val="7EAC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ANSIBLE</a:t>
            </a:r>
          </a:p>
          <a:p>
            <a:pPr algn="ctr">
              <a:lnSpc>
                <a:spcPts val="10230"/>
              </a:lnSpc>
            </a:pPr>
            <a:endParaRPr lang="en-US" sz="9300">
              <a:solidFill>
                <a:srgbClr val="7EAC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45147" y="2632710"/>
            <a:ext cx="6182743" cy="57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CONFIGURATION AVEC ANSIBLE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endParaRPr lang="en-US" sz="274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Ansible configure les serveurs en 3 étapes :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Installation de Docker sur tous les serveurs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Installation de K3s (Kubernetes) sur le Master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Connexion du Worker au cluster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Commande : ansible-playbook -i hosts.ini setup.yml</a:t>
            </a:r>
          </a:p>
          <a:p>
            <a:pPr algn="l">
              <a:lnSpc>
                <a:spcPts val="3839"/>
              </a:lnSpc>
              <a:spcBef>
                <a:spcPct val="0"/>
              </a:spcBef>
            </a:pPr>
            <a:endParaRPr lang="en-US" sz="274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 : Cluster Kubernetes opérationnel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59597" y="4686286"/>
            <a:ext cx="2332137" cy="45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kubectl get nodes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14192" y="7222264"/>
            <a:ext cx="1822946" cy="45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2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-267917"/>
            <a:ext cx="1296617" cy="12966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883425" y="-2380673"/>
            <a:ext cx="5522130" cy="552213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714538" y="7658848"/>
            <a:ext cx="3198905" cy="319890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632242" y="1028700"/>
            <a:ext cx="9275367" cy="4643622"/>
          </a:xfrm>
          <a:custGeom>
            <a:avLst/>
            <a:gdLst/>
            <a:ahLst/>
            <a:cxnLst/>
            <a:rect l="l" t="t" r="r" b="b"/>
            <a:pathLst>
              <a:path w="9275367" h="4643622">
                <a:moveTo>
                  <a:pt x="0" y="0"/>
                </a:moveTo>
                <a:lnTo>
                  <a:pt x="9275366" y="0"/>
                </a:lnTo>
                <a:lnTo>
                  <a:pt x="9275366" y="4643622"/>
                </a:lnTo>
                <a:lnTo>
                  <a:pt x="0" y="464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8632242" y="5752907"/>
            <a:ext cx="9184847" cy="4151410"/>
          </a:xfrm>
          <a:custGeom>
            <a:avLst/>
            <a:gdLst/>
            <a:ahLst/>
            <a:cxnLst/>
            <a:rect l="l" t="t" r="r" b="b"/>
            <a:pathLst>
              <a:path w="9184847" h="4151410">
                <a:moveTo>
                  <a:pt x="0" y="0"/>
                </a:moveTo>
                <a:lnTo>
                  <a:pt x="9184847" y="0"/>
                </a:lnTo>
                <a:lnTo>
                  <a:pt x="9184847" y="4151409"/>
                </a:lnTo>
                <a:lnTo>
                  <a:pt x="0" y="4151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638706" y="38100"/>
            <a:ext cx="8708695" cy="267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0"/>
              </a:lnSpc>
            </a:pPr>
            <a:r>
              <a:rPr lang="en-US" sz="9300">
                <a:solidFill>
                  <a:srgbClr val="7EAC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KUBERNETES</a:t>
            </a:r>
          </a:p>
          <a:p>
            <a:pPr algn="l">
              <a:lnSpc>
                <a:spcPts val="10230"/>
              </a:lnSpc>
            </a:pPr>
            <a:endParaRPr lang="en-US" sz="9300">
              <a:solidFill>
                <a:srgbClr val="7EAC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299061" y="9631488"/>
            <a:ext cx="960239" cy="16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24"/>
              </a:lnSpc>
            </a:pPr>
            <a:r>
              <a:rPr lang="en-US" sz="1200">
                <a:solidFill>
                  <a:srgbClr val="FFFCEF"/>
                </a:solidFill>
                <a:latin typeface="Handy Casual"/>
                <a:ea typeface="Handy Casual"/>
                <a:cs typeface="Handy Casual"/>
                <a:sym typeface="Handy Casual"/>
              </a:rPr>
              <a:t>Page | 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9927" y="2409266"/>
            <a:ext cx="6368753" cy="729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ORCHESTRATION KUBERNETES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endParaRPr lang="en-US" sz="2745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Déploiement :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- 2 réplicas pour la haute disponibilité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Image : quiz-app:latest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Port interne : 5000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endParaRPr lang="en-US" sz="27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: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Type : NodePort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Port d'accès : 30001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endParaRPr lang="en-US" sz="27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Commandes de vérification :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kubectl get nodes     # Voir les nœuds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kubectl get pods      # Voir les conteneurs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kubectl get all       # Voir toutes les ressources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-648308"/>
            <a:ext cx="1296617" cy="12966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47627" y="-1081645"/>
            <a:ext cx="2547065" cy="254706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130570" y="5700886"/>
            <a:ext cx="9346933" cy="4369691"/>
          </a:xfrm>
          <a:custGeom>
            <a:avLst/>
            <a:gdLst/>
            <a:ahLst/>
            <a:cxnLst/>
            <a:rect l="l" t="t" r="r" b="b"/>
            <a:pathLst>
              <a:path w="9346933" h="4369691">
                <a:moveTo>
                  <a:pt x="0" y="0"/>
                </a:moveTo>
                <a:lnTo>
                  <a:pt x="9346934" y="0"/>
                </a:lnTo>
                <a:lnTo>
                  <a:pt x="9346934" y="4369691"/>
                </a:lnTo>
                <a:lnTo>
                  <a:pt x="0" y="436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8218433" y="824993"/>
            <a:ext cx="9828672" cy="4570333"/>
          </a:xfrm>
          <a:custGeom>
            <a:avLst/>
            <a:gdLst/>
            <a:ahLst/>
            <a:cxnLst/>
            <a:rect l="l" t="t" r="r" b="b"/>
            <a:pathLst>
              <a:path w="9828672" h="4570333">
                <a:moveTo>
                  <a:pt x="0" y="0"/>
                </a:moveTo>
                <a:lnTo>
                  <a:pt x="9828673" y="0"/>
                </a:lnTo>
                <a:lnTo>
                  <a:pt x="9828673" y="4570333"/>
                </a:lnTo>
                <a:lnTo>
                  <a:pt x="0" y="457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840361" y="220462"/>
            <a:ext cx="6290209" cy="210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47"/>
              </a:lnSpc>
            </a:pPr>
            <a:r>
              <a:rPr lang="en-US" sz="7316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CI/CD</a:t>
            </a:r>
          </a:p>
          <a:p>
            <a:pPr algn="r">
              <a:lnSpc>
                <a:spcPts val="8047"/>
              </a:lnSpc>
            </a:pPr>
            <a:endParaRPr lang="en-US" sz="7316">
              <a:solidFill>
                <a:srgbClr val="C9686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5906" y="2016586"/>
            <a:ext cx="7319119" cy="777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 b="1">
                <a:solidFill>
                  <a:srgbClr val="C968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sz="27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IPELINE CI/CD - GITHUB ACTIONS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endParaRPr lang="en-US" sz="2762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Déclenchement automatique : push sur la branche main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endParaRPr lang="en-US" sz="276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Étapes du pipeline :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Récupération du code (Checkout)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Connexion à Docker Hub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Construction de l'image Docker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Publication sur Docker Hub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Connexion SSH au serveur Master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Mise à jour des Pods Kubernetes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endParaRPr lang="en-US" sz="276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Temps d'exécution : moins de 2 minutes</a:t>
            </a:r>
          </a:p>
          <a:p>
            <a:pPr algn="l">
              <a:lnSpc>
                <a:spcPts val="3867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Avantage : déploiement sans interruption (zéro downtime</a:t>
            </a:r>
            <a:r>
              <a:rPr lang="en-US" sz="2762">
                <a:solidFill>
                  <a:srgbClr val="C968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73414" y="8555585"/>
            <a:ext cx="4141854" cy="414185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63362" y="-730116"/>
            <a:ext cx="2363256" cy="23632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9458870"/>
            <a:ext cx="576737" cy="57673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59506" y="6701688"/>
            <a:ext cx="1970968" cy="1372511"/>
          </a:xfrm>
          <a:custGeom>
            <a:avLst/>
            <a:gdLst/>
            <a:ahLst/>
            <a:cxnLst/>
            <a:rect l="l" t="t" r="r" b="b"/>
            <a:pathLst>
              <a:path w="1970968" h="1372511">
                <a:moveTo>
                  <a:pt x="0" y="0"/>
                </a:moveTo>
                <a:lnTo>
                  <a:pt x="1970968" y="0"/>
                </a:lnTo>
                <a:lnTo>
                  <a:pt x="1970968" y="1372511"/>
                </a:lnTo>
                <a:lnTo>
                  <a:pt x="0" y="1372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621286" y="489612"/>
            <a:ext cx="10379137" cy="137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0"/>
              </a:lnSpc>
            </a:pPr>
            <a:r>
              <a:rPr lang="en-US" sz="9300" b="1">
                <a:solidFill>
                  <a:srgbClr val="7EAC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1996" y="1970199"/>
            <a:ext cx="12026404" cy="755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atteints :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Infrastructure DevOps automatisée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CI/CD fonctionnel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Application conteneurisée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Orchestration Kubernetes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Infrastructure as Code (Terraform)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Configuration automatique (Ansible)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endParaRPr lang="en-US" sz="33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Outils : Docker, Kubernetes, Terraform, Ansible, GitHub Actions, AWS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endParaRPr lang="en-US" sz="33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Liens :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309D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: https://github.com/yassinafess-spec/devops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305">
                <a:solidFill>
                  <a:srgbClr val="309D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: http://54.167.104.173:30001/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63823" y="-889328"/>
            <a:ext cx="3562544" cy="356254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DFA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88535" y="7992957"/>
            <a:ext cx="3407678" cy="340767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ACB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89188" y="3916297"/>
            <a:ext cx="15991682" cy="356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3"/>
              </a:lnSpc>
            </a:pPr>
            <a:r>
              <a:rPr lang="frc-Latn-001" sz="12630" i="1" dirty="0">
                <a:solidFill>
                  <a:srgbClr val="C96868"/>
                </a:solidFill>
                <a:latin typeface="Aptos Display" panose="020B0004020202020204" pitchFamily="34" charset="0"/>
                <a:ea typeface="Arab Times"/>
                <a:cs typeface="Arab Times"/>
                <a:sym typeface="Arab Times"/>
              </a:rPr>
              <a:t>MERCI DE VOTRE ATTENTION </a:t>
            </a:r>
            <a:endParaRPr lang="en-US" sz="12630" i="1" dirty="0">
              <a:solidFill>
                <a:srgbClr val="C96868"/>
              </a:solidFill>
              <a:latin typeface="Aptos Display" panose="020B0004020202020204" pitchFamily="34" charset="0"/>
              <a:ea typeface="Arab Times"/>
              <a:cs typeface="Arab Times"/>
              <a:sym typeface="Arab Time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638792" y="7266592"/>
            <a:ext cx="657527" cy="65752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6868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67555" y="8688403"/>
            <a:ext cx="1448083" cy="1008392"/>
          </a:xfrm>
          <a:custGeom>
            <a:avLst/>
            <a:gdLst/>
            <a:ahLst/>
            <a:cxnLst/>
            <a:rect l="l" t="t" r="r" b="b"/>
            <a:pathLst>
              <a:path w="1448083" h="1008392">
                <a:moveTo>
                  <a:pt x="0" y="0"/>
                </a:moveTo>
                <a:lnTo>
                  <a:pt x="1448083" y="0"/>
                </a:lnTo>
                <a:lnTo>
                  <a:pt x="1448083" y="1008393"/>
                </a:lnTo>
                <a:lnTo>
                  <a:pt x="0" y="1008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15860695" y="5728806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/>
          <p:nvPr/>
        </p:nvSpPr>
        <p:spPr>
          <a:xfrm>
            <a:off x="7726367" y="7992957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15482044" y="1421432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/>
          <p:nvPr/>
        </p:nvSpPr>
        <p:spPr>
          <a:xfrm>
            <a:off x="10904903" y="1421432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Freeform 17"/>
          <p:cNvSpPr/>
          <p:nvPr/>
        </p:nvSpPr>
        <p:spPr>
          <a:xfrm>
            <a:off x="1268252" y="1421432"/>
            <a:ext cx="1398605" cy="806105"/>
          </a:xfrm>
          <a:custGeom>
            <a:avLst/>
            <a:gdLst/>
            <a:ahLst/>
            <a:cxnLst/>
            <a:rect l="l" t="t" r="r" b="b"/>
            <a:pathLst>
              <a:path w="1398605" h="806105">
                <a:moveTo>
                  <a:pt x="0" y="0"/>
                </a:moveTo>
                <a:lnTo>
                  <a:pt x="1398605" y="0"/>
                </a:lnTo>
                <a:lnTo>
                  <a:pt x="1398605" y="806105"/>
                </a:lnTo>
                <a:lnTo>
                  <a:pt x="0" y="80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643</Words>
  <Application>Microsoft Office PowerPoint</Application>
  <PresentationFormat>Custom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Handy Casual</vt:lpstr>
      <vt:lpstr>Times New Roman</vt:lpstr>
      <vt:lpstr>Calibri</vt:lpstr>
      <vt:lpstr>Arial</vt:lpstr>
      <vt:lpstr>Times New Roman Bold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Red Playful Cute Group Project Presentation</dc:title>
  <dc:creator>LI</dc:creator>
  <cp:lastModifiedBy>chaimaa af</cp:lastModifiedBy>
  <cp:revision>2</cp:revision>
  <dcterms:created xsi:type="dcterms:W3CDTF">2006-08-16T00:00:00Z</dcterms:created>
  <dcterms:modified xsi:type="dcterms:W3CDTF">2026-03-26T18:43:06Z</dcterms:modified>
  <dc:identifier>DAHE5zCW93k</dc:identifier>
</cp:coreProperties>
</file>